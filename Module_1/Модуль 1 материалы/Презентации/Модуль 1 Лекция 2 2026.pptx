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oX1M6bZEr0j8SX2tDjQDrQdL4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437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-2842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B1525-9D40-4316-855D-09E6EFC26301}" type="datetimeFigureOut">
              <a:rPr lang="ru-RU" smtClean="0"/>
              <a:t>13.07.2026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D41B-2814-40D7-97D3-EB52E7A2C1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440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21909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>
                <a:solidFill>
                  <a:srgbClr val="FF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r>
              <a:rPr lang="ru-RU" dirty="0" smtClean="0"/>
              <a:t>/4</a:t>
            </a:r>
            <a:r>
              <a:rPr lang="en-US" dirty="0" smtClean="0"/>
              <a:t>4</a:t>
            </a: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5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0000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r>
              <a:rPr lang="ru-RU" dirty="0" smtClean="0"/>
              <a:t>/44</a:t>
            </a:r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5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ru-RU" smtClean="0"/>
              <a:t>Элтекс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/>
              <a:t>Модуль 1 </a:t>
            </a:r>
            <a:endParaRPr lang="ru-RU" dirty="0" smtClean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dirty="0" smtClean="0"/>
              <a:t>Лекция 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Темы лекции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Управление пользователями. Система полномочий.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Модель безопасности </a:t>
            </a:r>
            <a:r>
              <a:rPr lang="ru-RU" dirty="0" err="1"/>
              <a:t>Linux</a:t>
            </a:r>
            <a:r>
              <a:rPr lang="ru-RU" dirty="0"/>
              <a:t>. Права доступа.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Пользователи и группы. Специальные разрешения.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</a:t>
            </a:r>
            <a:r>
              <a:rPr lang="ru-RU" dirty="0" smtClean="0"/>
              <a:t>UID </a:t>
            </a:r>
            <a:r>
              <a:rPr lang="ru-RU" dirty="0"/>
              <a:t>и </a:t>
            </a:r>
            <a:r>
              <a:rPr lang="en-US" dirty="0" smtClean="0"/>
              <a:t>S</a:t>
            </a:r>
            <a:r>
              <a:rPr lang="ru-RU" dirty="0" smtClean="0"/>
              <a:t>GID</a:t>
            </a:r>
            <a:r>
              <a:rPr lang="ru-RU" dirty="0"/>
              <a:t>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 smtClean="0"/>
              <a:t>Umask</a:t>
            </a:r>
            <a:r>
              <a:rPr lang="ru-RU" dirty="0" smtClean="0"/>
              <a:t> </a:t>
            </a:r>
            <a:r>
              <a:rPr lang="ru-RU" dirty="0"/>
              <a:t>и права доступа.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sed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awk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tar</a:t>
            </a: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Пользователь – часть системы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Каждая система должна иметь учетную запись и разные разрешения для системных ресурсов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Учетная запись root используется для управления ОС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body" idx="1"/>
          </p:nvPr>
        </p:nvSpPr>
        <p:spPr>
          <a:xfrm>
            <a:off x="838199" y="258082"/>
            <a:ext cx="11002347" cy="6226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dirty="0"/>
              <a:t>Пользователь входит в группу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dirty="0"/>
              <a:t>У пользователя и группы, в которую он входит, могут быть разные права доступа к файлам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dirty="0" err="1"/>
              <a:t>ls</a:t>
            </a:r>
            <a:r>
              <a:rPr lang="ru-RU" b="1" dirty="0"/>
              <a:t> –l </a:t>
            </a:r>
            <a:r>
              <a:rPr lang="ru-RU" dirty="0"/>
              <a:t>показывает права доступа к файлам, находящимся в текущей директории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Например </a:t>
            </a:r>
            <a:r>
              <a:rPr lang="ru-RU" dirty="0" err="1"/>
              <a:t>drwx</a:t>
            </a:r>
            <a:r>
              <a:rPr lang="ru-RU" dirty="0"/>
              <a:t>------ это папка, которую может читать, писать и исполнять только владелец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drwxr</a:t>
            </a:r>
            <a:r>
              <a:rPr lang="ru-RU" dirty="0"/>
              <a:t>----- это папка, которую может читать, писать и исполнять владелец, читать могут пользователи из его группы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drwx</a:t>
            </a:r>
            <a:r>
              <a:rPr lang="ru-RU" dirty="0"/>
              <a:t>---</a:t>
            </a:r>
            <a:r>
              <a:rPr lang="ru-RU" dirty="0" err="1"/>
              <a:t>rwx</a:t>
            </a:r>
            <a:r>
              <a:rPr lang="ru-RU" dirty="0"/>
              <a:t> это папка, которую могут читать, писать и исполнять владелец и все остальные пользователи, не входящие в группу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d</a:t>
            </a:r>
            <a:r>
              <a:rPr lang="ru-RU" dirty="0" err="1">
                <a:solidFill>
                  <a:srgbClr val="FF0000"/>
                </a:solidFill>
              </a:rPr>
              <a:t>rwx</a:t>
            </a:r>
            <a:r>
              <a:rPr lang="ru-RU" dirty="0" err="1">
                <a:solidFill>
                  <a:schemeClr val="accent6"/>
                </a:solidFill>
              </a:rPr>
              <a:t>rwx</a:t>
            </a:r>
            <a:r>
              <a:rPr lang="ru-RU" dirty="0" err="1">
                <a:solidFill>
                  <a:srgbClr val="2F5496"/>
                </a:solidFill>
              </a:rPr>
              <a:t>rwx</a:t>
            </a:r>
            <a:r>
              <a:rPr lang="ru-RU" dirty="0"/>
              <a:t> – </a:t>
            </a:r>
            <a:r>
              <a:rPr lang="ru-RU" dirty="0">
                <a:solidFill>
                  <a:srgbClr val="FF0000"/>
                </a:solidFill>
              </a:rPr>
              <a:t>владелец</a:t>
            </a:r>
            <a:r>
              <a:rPr lang="ru-RU" dirty="0"/>
              <a:t>, </a:t>
            </a:r>
            <a:r>
              <a:rPr lang="ru-RU" dirty="0">
                <a:solidFill>
                  <a:srgbClr val="00B050"/>
                </a:solidFill>
              </a:rPr>
              <a:t>группа владельца</a:t>
            </a:r>
            <a:r>
              <a:rPr lang="ru-RU" dirty="0"/>
              <a:t>, </a:t>
            </a:r>
            <a:r>
              <a:rPr lang="ru-RU" dirty="0">
                <a:solidFill>
                  <a:srgbClr val="2F5496"/>
                </a:solidFill>
              </a:rPr>
              <a:t>остальные пользователи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4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Char char="•"/>
            </a:pPr>
            <a:r>
              <a:rPr lang="ru-RU" b="0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Иногда нужно получить список всех файлов в системе, в которых в качестве владельца указан данный пользователь или группа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Используется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ru-RU" b="1" i="0" dirty="0" err="1">
                <a:latin typeface="Arial"/>
                <a:ea typeface="Arial"/>
                <a:cs typeface="Arial"/>
                <a:sym typeface="Arial"/>
              </a:rPr>
              <a:t>find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0" i="0" dirty="0" err="1">
                <a:latin typeface="Arial"/>
                <a:ea typeface="Arial"/>
                <a:cs typeface="Arial"/>
                <a:sym typeface="Arial"/>
              </a:rPr>
              <a:t>find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 / -</a:t>
            </a:r>
            <a:r>
              <a:rPr lang="ru-RU" b="0" i="0" dirty="0" err="1"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 smtClean="0">
                <a:latin typeface="Arial"/>
                <a:ea typeface="Arial"/>
                <a:cs typeface="Arial"/>
                <a:sym typeface="Arial"/>
              </a:rPr>
              <a:t>eltex</a:t>
            </a:r>
            <a:r>
              <a:rPr lang="ru-RU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покажет все файлы в системе, которыми владеет пользователь </a:t>
            </a:r>
            <a:r>
              <a:rPr lang="en-US" dirty="0" err="1" smtClean="0">
                <a:latin typeface="Arial"/>
                <a:ea typeface="Arial"/>
                <a:cs typeface="Arial"/>
                <a:sym typeface="Arial"/>
              </a:rPr>
              <a:t>eltex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>
                <a:latin typeface="Arial"/>
                <a:ea typeface="Arial"/>
                <a:cs typeface="Arial"/>
                <a:sym typeface="Arial"/>
              </a:rPr>
              <a:t>find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 / -</a:t>
            </a:r>
            <a:r>
              <a:rPr lang="ru-RU" dirty="0" err="1"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dirty="0" err="1">
                <a:latin typeface="Arial"/>
                <a:ea typeface="Arial"/>
                <a:cs typeface="Arial"/>
                <a:sym typeface="Arial"/>
              </a:rPr>
              <a:t>eltex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 покажет все файлы в системе, которыми владеют пользователи, входящие в группу </a:t>
            </a:r>
            <a:r>
              <a:rPr lang="ru-RU" dirty="0" err="1">
                <a:latin typeface="Arial"/>
                <a:ea typeface="Arial"/>
                <a:cs typeface="Arial"/>
                <a:sym typeface="Arial"/>
              </a:rPr>
              <a:t>eltex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5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Изменение владельца</a:t>
            </a:r>
            <a:endParaRPr/>
          </a:p>
        </p:txBody>
      </p:sp>
      <p:sp>
        <p:nvSpPr>
          <p:cNvPr id="114" name="Google Shape;11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i="0" dirty="0" err="1">
                <a:latin typeface="Arial"/>
                <a:ea typeface="Arial"/>
                <a:cs typeface="Arial"/>
                <a:sym typeface="Arial"/>
              </a:rPr>
              <a:t>chown</a:t>
            </a:r>
            <a:r>
              <a:rPr lang="ru-RU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eltex</a:t>
            </a:r>
            <a:r>
              <a:rPr lang="en-US" b="1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tmp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b="1" i="0" dirty="0" err="1" smtClean="0"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меняет владельца каталога </a:t>
            </a:r>
            <a:r>
              <a:rPr lang="ru-RU" b="0" i="0" dirty="0" err="1"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 на пользователя </a:t>
            </a:r>
            <a:r>
              <a:rPr lang="en-US" dirty="0" err="1" smtClean="0">
                <a:latin typeface="Arial"/>
                <a:ea typeface="Arial"/>
                <a:cs typeface="Arial"/>
                <a:sym typeface="Arial"/>
              </a:rPr>
              <a:t>eltex</a:t>
            </a:r>
            <a:endParaRPr b="0" i="0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i="0" dirty="0" err="1">
                <a:latin typeface="Arial"/>
                <a:ea typeface="Arial"/>
                <a:cs typeface="Arial"/>
                <a:sym typeface="Arial"/>
              </a:rPr>
              <a:t>chown</a:t>
            </a:r>
            <a:r>
              <a:rPr lang="ru-RU" b="1" i="0" dirty="0">
                <a:latin typeface="Arial"/>
                <a:ea typeface="Arial"/>
                <a:cs typeface="Arial"/>
                <a:sym typeface="Arial"/>
              </a:rPr>
              <a:t> -R </a:t>
            </a:r>
            <a:r>
              <a:rPr lang="en-US" b="1" dirty="0" err="1" smtClean="0">
                <a:latin typeface="Arial"/>
                <a:ea typeface="Arial"/>
                <a:cs typeface="Arial"/>
                <a:sym typeface="Arial"/>
              </a:rPr>
              <a:t>eltex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b="1" i="0" dirty="0" err="1" smtClean="0">
                <a:latin typeface="Arial"/>
                <a:ea typeface="Arial"/>
                <a:cs typeface="Arial"/>
                <a:sym typeface="Arial"/>
              </a:rPr>
              <a:t>tmp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b="1" i="0" dirty="0" err="1" smtClean="0"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меняет владельца каталога </a:t>
            </a:r>
            <a:r>
              <a:rPr lang="ru-RU" b="0" i="0" dirty="0" err="1"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, всех вложенных каталогов и файлов</a:t>
            </a: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6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Изменение группы-владельца каталога</a:t>
            </a:r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307910" y="1825625"/>
            <a:ext cx="1164460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i="0" dirty="0" err="1">
                <a:latin typeface="Arial"/>
                <a:ea typeface="Arial"/>
                <a:cs typeface="Arial"/>
                <a:sym typeface="Arial"/>
              </a:rPr>
              <a:t>chgrp</a:t>
            </a:r>
            <a:r>
              <a:rPr lang="ru-RU" b="1" i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1" dirty="0" err="1" smtClean="0">
                <a:latin typeface="Arial"/>
                <a:ea typeface="Arial"/>
                <a:cs typeface="Arial"/>
                <a:sym typeface="Arial"/>
              </a:rPr>
              <a:t>eltex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 /</a:t>
            </a:r>
            <a:r>
              <a:rPr lang="en-US" b="1" i="0" dirty="0" err="1" smtClean="0">
                <a:latin typeface="Arial"/>
                <a:ea typeface="Arial"/>
                <a:cs typeface="Arial"/>
                <a:sym typeface="Arial"/>
              </a:rPr>
              <a:t>tmp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b="1" i="0" dirty="0" err="1" smtClean="0"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меняет группу владельца каталога </a:t>
            </a:r>
            <a:r>
              <a:rPr lang="ru-RU" b="0" i="0" dirty="0" err="1"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 на группу </a:t>
            </a:r>
            <a:r>
              <a:rPr lang="ru-RU" b="0" i="0" dirty="0" err="1">
                <a:latin typeface="Arial"/>
                <a:ea typeface="Arial"/>
                <a:cs typeface="Arial"/>
                <a:sym typeface="Arial"/>
              </a:rPr>
              <a:t>eltex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smtClean="0">
                <a:latin typeface="Arial"/>
                <a:ea typeface="Arial"/>
                <a:cs typeface="Arial"/>
                <a:sym typeface="Arial"/>
              </a:rPr>
              <a:t>Можно 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сделать то же самое через </a:t>
            </a:r>
            <a:r>
              <a:rPr lang="ru-RU" dirty="0" err="1">
                <a:latin typeface="Arial"/>
                <a:ea typeface="Arial"/>
                <a:cs typeface="Arial"/>
                <a:sym typeface="Arial"/>
              </a:rPr>
              <a:t>chown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b="1" i="0" dirty="0" err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chown</a:t>
            </a:r>
            <a:r>
              <a:rPr lang="ru-RU" b="1" i="0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ru-RU" b="1" i="0" dirty="0" err="1" smtClean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eltex</a:t>
            </a:r>
            <a:r>
              <a:rPr lang="ru-RU" b="1" i="0" dirty="0" smtClean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b="1" i="0" dirty="0" err="1" smtClean="0">
                <a:latin typeface="Arial"/>
                <a:ea typeface="Arial"/>
                <a:cs typeface="Arial"/>
                <a:sym typeface="Arial"/>
              </a:rPr>
              <a:t>tmp</a:t>
            </a:r>
            <a:r>
              <a:rPr lang="ru-RU" b="1" i="0" dirty="0" smtClean="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b="1" i="0" dirty="0" err="1" smtClean="0">
                <a:latin typeface="Arial"/>
                <a:ea typeface="Arial"/>
                <a:cs typeface="Arial"/>
                <a:sym typeface="Arial"/>
              </a:rPr>
              <a:t>account</a:t>
            </a:r>
            <a:endParaRPr lang="en-US" b="1" i="0" dirty="0" smtClean="0">
              <a:latin typeface="Arial"/>
              <a:ea typeface="Arial"/>
              <a:cs typeface="Arial"/>
              <a:sym typeface="Arial"/>
            </a:endParaRPr>
          </a:p>
          <a:p>
            <a:pPr marL="228600" indent="-228600">
              <a:buSzPts val="2800"/>
            </a:pPr>
            <a:r>
              <a:rPr lang="ru-RU" dirty="0">
                <a:latin typeface="Arial"/>
                <a:ea typeface="Arial"/>
                <a:cs typeface="Arial"/>
                <a:sym typeface="Arial"/>
              </a:rPr>
              <a:t>Важно то, что перед названием группы всегда </a:t>
            </a:r>
            <a:r>
              <a:rPr lang="ru-RU">
                <a:latin typeface="Arial"/>
                <a:ea typeface="Arial"/>
                <a:cs typeface="Arial"/>
                <a:sym typeface="Arial"/>
              </a:rPr>
              <a:t>ставится </a:t>
            </a:r>
            <a:r>
              <a:rPr lang="ru-RU" smtClean="0">
                <a:latin typeface="Arial"/>
                <a:ea typeface="Arial"/>
                <a:cs typeface="Arial"/>
                <a:sym typeface="Arial"/>
              </a:rPr>
              <a:t>двоеточие</a:t>
            </a:r>
            <a:endParaRPr lang="ru-RU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7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По умолчанию</a:t>
            </a:r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Пользователь, который создал файл, по умолчанию становится его владельцем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Группа, в которую входит пользователь, по умолчанию становится его владельцем. Но не любая, а основная (она же эффективная первичная). Основную группу можно посмотреть в файле /etc/passwd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Если пользователь хочет изменить основную группу, нужно выполнить команду </a:t>
            </a:r>
            <a:r>
              <a:rPr lang="ru-RU" b="1"/>
              <a:t>newgrp group_i_want_to_make_main</a:t>
            </a:r>
            <a:endParaRPr b="1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8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Важно</a:t>
            </a:r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Разрешение чтения каталога не дает разрешения на чтение содержимого файлов в этом каталоге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Система прав в Linux не имеет наследования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9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Управление правами</a:t>
            </a:r>
            <a:endParaRPr/>
          </a:p>
        </p:txBody>
      </p:sp>
      <p:sp>
        <p:nvSpPr>
          <p:cNvPr id="138" name="Google Shape;13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Команда </a:t>
            </a:r>
            <a:r>
              <a:rPr lang="ru-RU" b="1"/>
              <a:t>chmod</a:t>
            </a: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Можно в виде chmod 755 /file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u – пользователь, g – группа, o – другие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chmod +x </a:t>
            </a:r>
            <a:r>
              <a:rPr lang="ru-RU"/>
              <a:t>– добавление исполнения для всех пользователей (если не указаны конкретные пользователи или группы, то по умолчанию – все)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chmod g+w,o-r </a:t>
            </a:r>
            <a:r>
              <a:rPr lang="ru-RU"/>
              <a:t>– добавление записи группе и удаление чтения всем остальным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10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Интересное и нужное</a:t>
            </a:r>
            <a:endParaRPr/>
          </a:p>
        </p:txBody>
      </p:sp>
      <p:sp>
        <p:nvSpPr>
          <p:cNvPr id="144" name="Google Shape;14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Char char="•"/>
            </a:pPr>
            <a:r>
              <a:rPr lang="ru-RU" b="1" i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chmod -R o+rx /data</a:t>
            </a:r>
            <a:r>
              <a:rPr lang="ru-RU" i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– выполнение для каталога и всех файлов в каталоге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800"/>
              <a:buChar char="•"/>
            </a:pPr>
            <a:r>
              <a:rPr lang="ru-RU" b="1" i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chmod -R o+rX /data </a:t>
            </a:r>
            <a:r>
              <a:rPr lang="ru-RU" i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– выполнение только для каталога 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11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Расширенные права</a:t>
            </a:r>
            <a:endParaRPr/>
          </a:p>
        </p:txBody>
      </p:sp>
      <p:sp>
        <p:nvSpPr>
          <p:cNvPr id="150" name="Google Shape;15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smtClean="0"/>
              <a:t>S</a:t>
            </a:r>
            <a:r>
              <a:rPr lang="ru-RU" dirty="0" smtClean="0"/>
              <a:t>UID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smtClean="0"/>
              <a:t>S</a:t>
            </a:r>
            <a:r>
              <a:rPr lang="ru-RU" dirty="0" smtClean="0"/>
              <a:t>GID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sticky</a:t>
            </a:r>
            <a:r>
              <a:rPr lang="ru-RU" dirty="0"/>
              <a:t> </a:t>
            </a:r>
            <a:r>
              <a:rPr lang="ru-RU" dirty="0" err="1"/>
              <a:t>bit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12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smtClean="0"/>
              <a:t>S</a:t>
            </a:r>
            <a:r>
              <a:rPr lang="ru-RU" dirty="0" smtClean="0"/>
              <a:t>UID</a:t>
            </a:r>
            <a:endParaRPr dirty="0"/>
          </a:p>
        </p:txBody>
      </p:sp>
      <p:sp>
        <p:nvSpPr>
          <p:cNvPr id="156" name="Google Shape;15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Разрешение на установку идентификатора пользователя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Иногда пользователю требуются специальные разрешения для выполнения некоторой задачи. Например, сменить пароль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Пользователь должен записать новый пароль в /etc/shadow, но файл недоступен не для root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Пользователь временно получает права root, чтобы записать информацию в файл 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13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smtClean="0"/>
              <a:t>S</a:t>
            </a:r>
            <a:r>
              <a:rPr lang="ru-RU" dirty="0" smtClean="0"/>
              <a:t>GID</a:t>
            </a:r>
            <a:endParaRPr dirty="0"/>
          </a:p>
        </p:txBody>
      </p:sp>
      <p:sp>
        <p:nvSpPr>
          <p:cNvPr id="162" name="Google Shape;162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При применении к исполняемому файлу он дает пользователю, который исполняет файл, разрешение владельца группы этого файла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Разрешение группы полезно для установки в каталогах общих групп. Какую проблему это решает? Вася редактирует файл, а Маша не имеет доступ к этому файлу. Но они находятся в одной группе, и тогда через настройку SGID возможно предоставление доступа.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Как найти </a:t>
            </a:r>
            <a:r>
              <a:rPr lang="en-US" dirty="0"/>
              <a:t>S</a:t>
            </a:r>
            <a:r>
              <a:rPr lang="ru-RU" dirty="0" smtClean="0"/>
              <a:t>GID</a:t>
            </a:r>
            <a:r>
              <a:rPr lang="ru-RU" dirty="0"/>
              <a:t>? Команда </a:t>
            </a:r>
            <a:r>
              <a:rPr lang="ru-RU" b="1" i="0" dirty="0" err="1">
                <a:latin typeface="Arial"/>
                <a:ea typeface="Arial"/>
                <a:cs typeface="Arial"/>
                <a:sym typeface="Arial"/>
              </a:rPr>
              <a:t>ls</a:t>
            </a:r>
            <a:r>
              <a:rPr lang="ru-RU" b="1" i="0" dirty="0">
                <a:latin typeface="Arial"/>
                <a:ea typeface="Arial"/>
                <a:cs typeface="Arial"/>
                <a:sym typeface="Arial"/>
              </a:rPr>
              <a:t> -</a:t>
            </a:r>
            <a:r>
              <a:rPr lang="ru-RU" b="1" i="0" dirty="0" err="1">
                <a:latin typeface="Arial"/>
                <a:ea typeface="Arial"/>
                <a:cs typeface="Arial"/>
                <a:sym typeface="Arial"/>
              </a:rPr>
              <a:t>ld</a:t>
            </a:r>
            <a:r>
              <a:rPr lang="ru-RU" b="1" i="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1" i="0" dirty="0" err="1">
                <a:latin typeface="Arial"/>
                <a:ea typeface="Arial"/>
                <a:cs typeface="Arial"/>
                <a:sym typeface="Arial"/>
              </a:rPr>
              <a:t>account</a:t>
            </a:r>
            <a:r>
              <a:rPr lang="ru-RU" b="0" i="0" dirty="0">
                <a:latin typeface="Arial"/>
                <a:ea typeface="Arial"/>
                <a:cs typeface="Arial"/>
                <a:sym typeface="Arial"/>
              </a:rPr>
              <a:t> показывает </a:t>
            </a:r>
            <a:r>
              <a:rPr lang="ru-RU" b="1" i="0" dirty="0" err="1">
                <a:latin typeface="Arial"/>
                <a:ea typeface="Arial"/>
                <a:cs typeface="Arial"/>
                <a:sym typeface="Arial"/>
              </a:rPr>
              <a:t>drwxr</a:t>
            </a:r>
            <a:r>
              <a:rPr lang="ru-RU" b="1" i="0" dirty="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ru-RU" b="1" i="0" dirty="0" err="1">
                <a:latin typeface="Arial"/>
                <a:ea typeface="Arial"/>
                <a:cs typeface="Arial"/>
                <a:sym typeface="Arial"/>
              </a:rPr>
              <a:t>sr</a:t>
            </a:r>
            <a:r>
              <a:rPr lang="ru-RU" b="1" i="0" dirty="0">
                <a:latin typeface="Arial"/>
                <a:ea typeface="Arial"/>
                <a:cs typeface="Arial"/>
                <a:sym typeface="Arial"/>
              </a:rPr>
              <a:t>-x</a:t>
            </a:r>
            <a:r>
              <a:rPr lang="ru-RU" dirty="0">
                <a:latin typeface="Arial"/>
                <a:ea typeface="Arial"/>
                <a:cs typeface="Arial"/>
                <a:sym typeface="Arial"/>
              </a:rPr>
              <a:t>, где s – это разрешение на выполнение группы</a:t>
            </a: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14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sticky bit</a:t>
            </a:r>
            <a:endParaRPr/>
          </a:p>
        </p:txBody>
      </p:sp>
      <p:sp>
        <p:nvSpPr>
          <p:cNvPr id="168" name="Google Shape;16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Используется для защиты файлов от случайного удаления в среде, где несколько пользователей имеют права на запись в один и тот же каталог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Если есть sticky bit, то пользователь может удалить файл, только если он является владельцем файла и каталога, в котором находится файл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 Где найти sticky bit? Команда </a:t>
            </a:r>
            <a:r>
              <a:rPr lang="ru-RU" b="1"/>
              <a:t>ls –ld account/</a:t>
            </a:r>
            <a:r>
              <a:rPr lang="ru-RU"/>
              <a:t> показывает t в позиции разрешения на выполнение для других пользователей </a:t>
            </a:r>
            <a:r>
              <a:rPr lang="ru-RU" b="0" i="0">
                <a:latin typeface="Arial"/>
                <a:ea typeface="Arial"/>
                <a:cs typeface="Arial"/>
                <a:sym typeface="Arial"/>
              </a:rPr>
              <a:t>drwxr-sr-t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15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Как применить расширенные права</a:t>
            </a:r>
            <a:endParaRPr/>
          </a:p>
        </p:txBody>
      </p:sp>
      <p:sp>
        <p:nvSpPr>
          <p:cNvPr id="174" name="Google Shape;17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 dirty="0" err="1"/>
              <a:t>chmod</a:t>
            </a:r>
            <a:r>
              <a:rPr lang="ru-RU" dirty="0"/>
              <a:t> с дополнительной цифрой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</a:t>
            </a:r>
            <a:r>
              <a:rPr lang="ru-RU" dirty="0" smtClean="0"/>
              <a:t>UID </a:t>
            </a:r>
            <a:r>
              <a:rPr lang="ru-RU" dirty="0"/>
              <a:t>= 4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 smtClean="0"/>
              <a:t>S</a:t>
            </a:r>
            <a:r>
              <a:rPr lang="ru-RU" dirty="0" smtClean="0"/>
              <a:t>GID </a:t>
            </a:r>
            <a:r>
              <a:rPr lang="ru-RU" dirty="0"/>
              <a:t>= 2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sticky</a:t>
            </a:r>
            <a:r>
              <a:rPr lang="ru-RU" dirty="0"/>
              <a:t> </a:t>
            </a:r>
            <a:r>
              <a:rPr lang="ru-RU" dirty="0" err="1"/>
              <a:t>bit</a:t>
            </a:r>
            <a:r>
              <a:rPr lang="ru-RU" dirty="0"/>
              <a:t> = 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Соответственно, </a:t>
            </a:r>
            <a:r>
              <a:rPr lang="ru-RU" b="1" dirty="0" err="1"/>
              <a:t>chmod</a:t>
            </a:r>
            <a:r>
              <a:rPr lang="ru-RU" b="1" dirty="0"/>
              <a:t> 2755 /</a:t>
            </a:r>
            <a:r>
              <a:rPr lang="ru-RU" b="1" dirty="0" err="1"/>
              <a:t>somedir</a:t>
            </a:r>
            <a:r>
              <a:rPr lang="ru-RU" dirty="0"/>
              <a:t> добавит разрешение </a:t>
            </a:r>
            <a:r>
              <a:rPr lang="en-US" dirty="0"/>
              <a:t>S</a:t>
            </a:r>
            <a:r>
              <a:rPr lang="ru-RU" dirty="0" smtClean="0"/>
              <a:t>GID </a:t>
            </a:r>
            <a:r>
              <a:rPr lang="ru-RU" dirty="0"/>
              <a:t>на каталог и установит </a:t>
            </a:r>
            <a:r>
              <a:rPr lang="ru-RU" dirty="0" err="1"/>
              <a:t>rwx</a:t>
            </a:r>
            <a:r>
              <a:rPr lang="ru-RU" dirty="0"/>
              <a:t> для пользователя и </a:t>
            </a:r>
            <a:r>
              <a:rPr lang="ru-RU" dirty="0" err="1"/>
              <a:t>rx</a:t>
            </a:r>
            <a:r>
              <a:rPr lang="ru-RU" dirty="0"/>
              <a:t> для группы и других пользователей</a:t>
            </a: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16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Рекомендации</a:t>
            </a:r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Не работать в абсолютном режиме, потому что можно перезаписать разрешения (абсолютный – когда права пишутся в виде 777, например)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Для </a:t>
            </a:r>
            <a:r>
              <a:rPr lang="en-US" dirty="0" smtClean="0"/>
              <a:t>S</a:t>
            </a:r>
            <a:r>
              <a:rPr lang="ru-RU" dirty="0" smtClean="0"/>
              <a:t>UID </a:t>
            </a:r>
            <a:r>
              <a:rPr lang="ru-RU" dirty="0"/>
              <a:t>использовать </a:t>
            </a:r>
            <a:r>
              <a:rPr lang="ru-RU" dirty="0" err="1"/>
              <a:t>chmod</a:t>
            </a:r>
            <a:r>
              <a:rPr lang="ru-RU" dirty="0"/>
              <a:t> </a:t>
            </a:r>
            <a:r>
              <a:rPr lang="ru-RU" dirty="0" err="1"/>
              <a:t>u+s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Для </a:t>
            </a:r>
            <a:r>
              <a:rPr lang="en-US" dirty="0" smtClean="0"/>
              <a:t>S</a:t>
            </a:r>
            <a:r>
              <a:rPr lang="ru-RU" dirty="0" smtClean="0"/>
              <a:t>GID </a:t>
            </a:r>
            <a:r>
              <a:rPr lang="ru-RU" dirty="0"/>
              <a:t>использовать </a:t>
            </a:r>
            <a:r>
              <a:rPr lang="ru-RU" dirty="0" err="1"/>
              <a:t>chmod</a:t>
            </a:r>
            <a:r>
              <a:rPr lang="ru-RU" dirty="0"/>
              <a:t> </a:t>
            </a:r>
            <a:r>
              <a:rPr lang="ru-RU" dirty="0" err="1"/>
              <a:t>g+s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Для </a:t>
            </a:r>
            <a:r>
              <a:rPr lang="ru-RU" dirty="0" err="1"/>
              <a:t>sticky</a:t>
            </a:r>
            <a:r>
              <a:rPr lang="ru-RU" dirty="0"/>
              <a:t> </a:t>
            </a:r>
            <a:r>
              <a:rPr lang="ru-RU" dirty="0" err="1"/>
              <a:t>bit</a:t>
            </a:r>
            <a:r>
              <a:rPr lang="ru-RU" dirty="0"/>
              <a:t> использовать </a:t>
            </a:r>
            <a:r>
              <a:rPr lang="ru-RU" dirty="0" err="1"/>
              <a:t>chmod</a:t>
            </a:r>
            <a:r>
              <a:rPr lang="ru-RU" dirty="0"/>
              <a:t> +t</a:t>
            </a: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17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umask (обратная маска)</a:t>
            </a:r>
            <a:endParaRPr/>
          </a:p>
        </p:txBody>
      </p:sp>
      <p:sp>
        <p:nvSpPr>
          <p:cNvPr id="222" name="Google Shape;222;p24"/>
          <p:cNvSpPr txBox="1">
            <a:spLocks noGrp="1"/>
          </p:cNvSpPr>
          <p:nvPr>
            <p:ph type="body" idx="1"/>
          </p:nvPr>
        </p:nvSpPr>
        <p:spPr>
          <a:xfrm>
            <a:off x="633046" y="1825625"/>
            <a:ext cx="1072075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800"/>
              <a:buChar char="•"/>
            </a:pPr>
            <a:r>
              <a:rPr lang="ru-RU" b="0" i="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При создании нового файла устанавливаются некоторые разрешения по умолчанию</a:t>
            </a:r>
            <a:endParaRPr b="0" i="0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2800"/>
              <a:buChar char="•"/>
            </a:pPr>
            <a:r>
              <a:rPr lang="ru-RU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Эти разрешения определяются настройкой umask</a:t>
            </a:r>
            <a:endParaRPr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Этот параметр оболочки применяется ко всем пользователям при входе в систему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umask – числовое значение, которое вычитается из максимальных разрешений (для файлов – 666, для каталогов – 777)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umask по умолчанию 022 делает 644 для всех новых файлов, 755 для всех новых каталогов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18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umask все значения</a:t>
            </a:r>
            <a:endParaRPr/>
          </a:p>
        </p:txBody>
      </p:sp>
      <p:pic>
        <p:nvPicPr>
          <p:cNvPr id="228" name="Google Shape;228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86935" y="1505243"/>
            <a:ext cx="10018130" cy="46717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19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Как изменить umask</a:t>
            </a:r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Создать сценарий с именем umask.sh в каталоге /etc/profile.d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В этом сценарии указать umask, которую хотим использовать в сценарии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Эта настройка применяется ко всем пользователям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-------------------------------------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Если хотим применить к конкретному пользователю, то нужно поменять настройку в файле .profile в домашнем каталоге этого пользователя 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20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awk</a:t>
            </a:r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awk разбивает каждую строку на отдельные поля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По-умолчанию, поля - это последовательности символов, отделенные друг от друга пробелами, однако имеется возможность назначения других символов, в качестве разделителя полей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awk анализирует и обрабатывает каждое поле в отдельности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21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>
            <a:spLocks noGrp="1"/>
          </p:cNvSpPr>
          <p:nvPr>
            <p:ph type="body" idx="1"/>
          </p:nvPr>
        </p:nvSpPr>
        <p:spPr>
          <a:xfrm>
            <a:off x="279917" y="391886"/>
            <a:ext cx="11653935" cy="578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ru-RU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Внутри сценариев командной оболочки код awk заключается одиночные кавычки и фигурные скобки</a:t>
            </a: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awk '{print $3}' $filename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# Выводит содержимое 3-го поля из файла $filename на устройство stdout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awk '{print $1 $5 $6}' $filename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# Выводит содержимое 1-го, 5-го и 6-го полей из файла $filename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22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awk работает с переменными</a:t>
            </a:r>
            <a:endParaRPr/>
          </a:p>
        </p:txBody>
      </p:sp>
      <p:sp>
        <p:nvSpPr>
          <p:cNvPr id="251" name="Google Shape;25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{ total += ${column_number} }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Эта команда добавит содержимое переменной column_number к переменной total.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Чтобы в завершение вывести total, можно использовать команду END, которая открывает блок кода, отрабатывающий после того, как будут обработаны все входные данные.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END { print total }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23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/>
              <a:t>sed</a:t>
            </a:r>
            <a:endParaRPr b="1"/>
          </a:p>
        </p:txBody>
      </p:sp>
      <p:sp>
        <p:nvSpPr>
          <p:cNvPr id="257" name="Google Shape;257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ru-RU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потоковый редактор текста</a:t>
            </a:r>
            <a:endParaRPr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ru-RU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можно выполнять с файлами </a:t>
            </a:r>
            <a:r>
              <a:rPr lang="ru-RU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операции </a:t>
            </a:r>
            <a:r>
              <a:rPr lang="ru-RU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вроде поиска, замены, вставки, удаления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24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Замена заданного шаблона</a:t>
            </a:r>
            <a:endParaRPr/>
          </a:p>
        </p:txBody>
      </p:sp>
      <p:sp>
        <p:nvSpPr>
          <p:cNvPr id="263" name="Google Shape;263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Замена одного слова на другое в целевом файле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2829"/>
              </a:buClr>
              <a:buSzPts val="2800"/>
              <a:buChar char="•"/>
            </a:pPr>
            <a:r>
              <a:rPr lang="ru-RU" b="0" i="0" dirty="0" smtClean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lang="en-US" b="0" i="0" dirty="0" smtClean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 dirty="0" err="1" smtClean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sed</a:t>
            </a:r>
            <a:r>
              <a:rPr lang="ru-RU" b="0" i="0" dirty="0" smtClean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 dirty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‘s/</a:t>
            </a:r>
            <a:r>
              <a:rPr lang="ru-RU" b="0" i="0" dirty="0" err="1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lang="ru-RU" b="0" i="0" dirty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b="0" i="0" dirty="0" err="1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second</a:t>
            </a:r>
            <a:r>
              <a:rPr lang="ru-RU" b="0" i="0" dirty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/’</a:t>
            </a:r>
            <a:r>
              <a:rPr lang="ru-RU" b="0" i="0" dirty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text.txt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По умолчанию заменяется первое вхождение шаблона в строке</a:t>
            </a: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25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Замена n-ного шаблона</a:t>
            </a:r>
            <a:endParaRPr/>
          </a:p>
        </p:txBody>
      </p:sp>
      <p:sp>
        <p:nvSpPr>
          <p:cNvPr id="269" name="Google Shape;269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Замена одного слова на другое в целевом файле, когда обнаружится второе вхождение шаблона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2829"/>
              </a:buClr>
              <a:buSzPts val="2800"/>
              <a:buChar char="•"/>
            </a:pPr>
            <a:r>
              <a:rPr lang="ru-RU" b="0" i="0" dirty="0" smtClean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$</a:t>
            </a:r>
            <a:r>
              <a:rPr lang="en-US" b="0" i="0" dirty="0" smtClean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 dirty="0" err="1" smtClean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sed</a:t>
            </a:r>
            <a:r>
              <a:rPr lang="ru-RU" b="0" i="0" dirty="0" smtClean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 dirty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‘s/</a:t>
            </a:r>
            <a:r>
              <a:rPr lang="ru-RU" b="0" i="0" dirty="0" err="1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lang="ru-RU" b="0" i="0" dirty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ru-RU" b="0" i="0" dirty="0" err="1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second</a:t>
            </a:r>
            <a:r>
              <a:rPr lang="ru-RU" b="0" i="0" dirty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/2’</a:t>
            </a:r>
            <a:r>
              <a:rPr lang="ru-RU" b="0" i="0" dirty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text.txt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26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Замена всех вхождений шаблона</a:t>
            </a:r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Для замены всех без исключения вхождений заданного шаблона используется глобальный флаг /g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2829"/>
              </a:buClr>
              <a:buSzPts val="2800"/>
              <a:buChar char="•"/>
            </a:pPr>
            <a:r>
              <a:rPr lang="ru-RU" b="0" i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$sed</a:t>
            </a:r>
            <a:r>
              <a:rPr lang="ru-RU" b="0" i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's/first/second/g'</a:t>
            </a:r>
            <a:r>
              <a:rPr lang="ru-RU" b="0" i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text.txt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27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Замена шаблона в конкретной строке</a:t>
            </a:r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82829"/>
              </a:buClr>
              <a:buSzPts val="2800"/>
              <a:buChar char="•"/>
            </a:pPr>
            <a:r>
              <a:rPr lang="ru-RU" b="0" i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$sed</a:t>
            </a:r>
            <a:r>
              <a:rPr lang="ru-RU" b="0" i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'3 s/first/second/'</a:t>
            </a:r>
            <a:r>
              <a:rPr lang="ru-RU" b="0" i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text.txt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ru-RU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Команда заменяет заданное слово только в третьей строке.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28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Дублирование изменяемых строк</a:t>
            </a:r>
            <a:endParaRPr/>
          </a:p>
        </p:txBody>
      </p:sp>
      <p:sp>
        <p:nvSpPr>
          <p:cNvPr id="287" name="Google Shape;287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При добавлении флага /p команда выведет в терминал строки, где производится замена. Строки, в которых искомый шаблон отсутствует, не дублируются.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2829"/>
              </a:buClr>
              <a:buSzPts val="2800"/>
              <a:buChar char="•"/>
            </a:pPr>
            <a:r>
              <a:rPr lang="ru-RU" b="0" i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$sed</a:t>
            </a:r>
            <a:r>
              <a:rPr lang="ru-RU" b="0" i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's/first/second/p’</a:t>
            </a:r>
            <a:r>
              <a:rPr lang="ru-RU" b="0" i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text.txt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29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Вывод только строк с заменой</a:t>
            </a:r>
            <a:endParaRPr/>
          </a:p>
        </p:txBody>
      </p:sp>
      <p:sp>
        <p:nvSpPr>
          <p:cNvPr id="293" name="Google Shape;293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Если рядом с флагом /p добавить ключ -n, в терминале отобразятся только строки, где выполнялась замена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-n отключает дублирующее поведение флага /p, поэтому строки с заменой выводятся по одному разу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2829"/>
              </a:buClr>
              <a:buSzPts val="2800"/>
              <a:buChar char="•"/>
            </a:pPr>
            <a:r>
              <a:rPr lang="ru-RU" b="0" i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$sed</a:t>
            </a:r>
            <a:r>
              <a:rPr lang="ru-RU" b="0" i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-n </a:t>
            </a:r>
            <a:r>
              <a:rPr lang="ru-RU" b="0" i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's/first/second/p’</a:t>
            </a:r>
            <a:r>
              <a:rPr lang="ru-RU" b="0" i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text.txt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30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title"/>
          </p:nvPr>
        </p:nvSpPr>
        <p:spPr>
          <a:xfrm>
            <a:off x="167951" y="365125"/>
            <a:ext cx="1167259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Замена шаблона в указанном диапазоне строк</a:t>
            </a:r>
            <a:endParaRPr/>
          </a:p>
        </p:txBody>
      </p:sp>
      <p:sp>
        <p:nvSpPr>
          <p:cNvPr id="299" name="Google Shape;299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ru-RU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указать диапазон строк, в которых требуется заменить определённый шаблон</a:t>
            </a:r>
            <a:endParaRPr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2829"/>
              </a:buClr>
              <a:buSzPts val="2800"/>
              <a:buChar char="•"/>
            </a:pPr>
            <a:r>
              <a:rPr lang="ru-RU" b="0" i="0">
                <a:solidFill>
                  <a:srgbClr val="C82829"/>
                </a:solidFill>
                <a:latin typeface="Arial"/>
                <a:ea typeface="Arial"/>
                <a:cs typeface="Arial"/>
                <a:sym typeface="Arial"/>
              </a:rPr>
              <a:t>$sed</a:t>
            </a:r>
            <a:r>
              <a:rPr lang="ru-RU" b="0" i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>
                <a:solidFill>
                  <a:srgbClr val="718C00"/>
                </a:solidFill>
                <a:latin typeface="Arial"/>
                <a:ea typeface="Arial"/>
                <a:cs typeface="Arial"/>
                <a:sym typeface="Arial"/>
              </a:rPr>
              <a:t>'1,3 s/first/second/'</a:t>
            </a:r>
            <a:r>
              <a:rPr lang="ru-RU" b="0" i="0">
                <a:solidFill>
                  <a:srgbClr val="4D4D4C"/>
                </a:solidFill>
                <a:latin typeface="Arial"/>
                <a:ea typeface="Arial"/>
                <a:cs typeface="Arial"/>
                <a:sym typeface="Arial"/>
              </a:rPr>
              <a:t> geekfile.txt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$ указывает на последнюю строку файла, в связи с чем sed заменяет первые вхождения шаблона, начиная со второй, заканчивая последней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31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 Удаление строк из файла</a:t>
            </a:r>
            <a:endParaRPr/>
          </a:p>
        </p:txBody>
      </p:sp>
      <p:sp>
        <p:nvSpPr>
          <p:cNvPr id="305" name="Google Shape;305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Удаление n-ой строки: $ sed 'nd' filename.txt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Удаление последней строки: $ sed '$d' filename.txt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Удаление строк с x по y: $ sed 'x,yd' filename.txt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Удаление строк с n-ой до последней: $ sed 'n,$d' filename.txt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32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>
            <a:spLocks noGrp="1"/>
          </p:cNvSpPr>
          <p:nvPr>
            <p:ph type="title"/>
          </p:nvPr>
        </p:nvSpPr>
        <p:spPr>
          <a:xfrm>
            <a:off x="261257" y="365125"/>
            <a:ext cx="110925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</a:pPr>
            <a:r>
              <a:rPr lang="ru-RU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Удаление текста, соответствующего шаблону</a:t>
            </a:r>
            <a:endParaRPr/>
          </a:p>
        </p:txBody>
      </p:sp>
      <p:sp>
        <p:nvSpPr>
          <p:cNvPr id="311" name="Google Shape;311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ru-RU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$ sed '/pattern/d’ </a:t>
            </a:r>
            <a:r>
              <a:rPr lang="ru-RU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r>
              <a:rPr lang="ru-RU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.txt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33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Просмотр строк</a:t>
            </a:r>
            <a:endParaRPr/>
          </a:p>
        </p:txBody>
      </p:sp>
      <p:sp>
        <p:nvSpPr>
          <p:cNvPr id="317" name="Google Shape;317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Строки с x по y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sed</a:t>
            </a:r>
            <a:r>
              <a:rPr lang="ru-RU" dirty="0"/>
              <a:t> -n </a:t>
            </a:r>
            <a:r>
              <a:rPr lang="ru-RU" dirty="0" smtClean="0"/>
              <a:t>‘</a:t>
            </a:r>
            <a:r>
              <a:rPr lang="ru-RU" dirty="0" err="1" smtClean="0"/>
              <a:t>x,yp</a:t>
            </a:r>
            <a:r>
              <a:rPr lang="ru-RU" dirty="0"/>
              <a:t>’ </a:t>
            </a:r>
            <a:r>
              <a:rPr lang="ru-RU" dirty="0" err="1"/>
              <a:t>filename</a:t>
            </a: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34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Просмотре всего файла за исключением заданного диапазона</a:t>
            </a:r>
            <a:endParaRPr/>
          </a:p>
        </p:txBody>
      </p:sp>
      <p:sp>
        <p:nvSpPr>
          <p:cNvPr id="323" name="Google Shape;323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Char char="•"/>
            </a:pPr>
            <a:r>
              <a:rPr lang="ru-RU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sed ‘x,yd’ filename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35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400"/>
              <a:buFont typeface="Arial"/>
              <a:buNone/>
            </a:pPr>
            <a:r>
              <a:rPr lang="ru-RU" b="0" i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Вывести n-ую строку файл</a:t>
            </a:r>
            <a:endParaRPr/>
          </a:p>
        </p:txBody>
      </p:sp>
      <p:sp>
        <p:nvSpPr>
          <p:cNvPr id="329" name="Google Shape;329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sed</a:t>
            </a:r>
            <a:r>
              <a:rPr lang="ru-RU" dirty="0"/>
              <a:t> -n </a:t>
            </a:r>
            <a:r>
              <a:rPr lang="en-US" dirty="0" smtClean="0"/>
              <a:t>'</a:t>
            </a:r>
            <a:r>
              <a:rPr lang="ru-RU" dirty="0" err="1" smtClean="0"/>
              <a:t>address</a:t>
            </a:r>
            <a:r>
              <a:rPr lang="en-US" dirty="0" smtClean="0"/>
              <a:t>'</a:t>
            </a:r>
            <a:r>
              <a:rPr lang="ru-RU" dirty="0" smtClean="0"/>
              <a:t>p </a:t>
            </a:r>
            <a:r>
              <a:rPr lang="ru-RU" dirty="0" err="1"/>
              <a:t>filename</a:t>
            </a: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36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Вывести строки с x по y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sed -n ‘x,y’p filename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37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>
            <a:spLocks noGrp="1"/>
          </p:cNvSpPr>
          <p:nvPr>
            <p:ph type="title"/>
          </p:nvPr>
        </p:nvSpPr>
        <p:spPr>
          <a:xfrm>
            <a:off x="195943" y="365125"/>
            <a:ext cx="1180322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Вывести строки, содержащие указанный шаблон</a:t>
            </a:r>
            <a:endParaRPr/>
          </a:p>
        </p:txBody>
      </p:sp>
      <p:sp>
        <p:nvSpPr>
          <p:cNvPr id="341" name="Google Shape;341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sed -n /pattern/p filename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38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>
            <a:spLocks noGrp="1"/>
          </p:cNvSpPr>
          <p:nvPr>
            <p:ph type="title"/>
          </p:nvPr>
        </p:nvSpPr>
        <p:spPr>
          <a:xfrm>
            <a:off x="0" y="365125"/>
            <a:ext cx="121018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000"/>
              <a:buFont typeface="Arial"/>
              <a:buNone/>
            </a:pPr>
            <a:r>
              <a:rPr lang="ru-RU" sz="4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Два способа замены шаблона, </a:t>
            </a:r>
            <a:br>
              <a:rPr lang="ru-RU" sz="4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40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игнорируя регистр</a:t>
            </a:r>
            <a:endParaRPr sz="4000"/>
          </a:p>
        </p:txBody>
      </p:sp>
      <p:sp>
        <p:nvSpPr>
          <p:cNvPr id="347" name="Google Shape;347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ИЛИ использовать флаг    /i              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sed</a:t>
            </a:r>
            <a:r>
              <a:rPr lang="ru-RU" dirty="0"/>
              <a:t> </a:t>
            </a:r>
            <a:r>
              <a:rPr lang="en-US" dirty="0" smtClean="0"/>
              <a:t>'</a:t>
            </a:r>
            <a:r>
              <a:rPr lang="ru-RU" dirty="0" smtClean="0"/>
              <a:t>s/</a:t>
            </a:r>
            <a:r>
              <a:rPr lang="ru-RU" dirty="0" err="1" smtClean="0"/>
              <a:t>old_pattern</a:t>
            </a:r>
            <a:r>
              <a:rPr lang="ru-RU" dirty="0" smtClean="0"/>
              <a:t>/</a:t>
            </a:r>
            <a:r>
              <a:rPr lang="ru-RU" dirty="0" err="1" smtClean="0"/>
              <a:t>new_pattern</a:t>
            </a:r>
            <a:r>
              <a:rPr lang="ru-RU" dirty="0" smtClean="0"/>
              <a:t>/</a:t>
            </a:r>
            <a:r>
              <a:rPr lang="en-US" dirty="0" smtClean="0"/>
              <a:t>I'</a:t>
            </a:r>
            <a:r>
              <a:rPr lang="ru-RU" dirty="0" smtClean="0"/>
              <a:t> </a:t>
            </a:r>
            <a:r>
              <a:rPr lang="ru-RU" dirty="0" err="1"/>
              <a:t>filename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ИЛИ использовать регулярные выражения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sed</a:t>
            </a:r>
            <a:r>
              <a:rPr lang="ru-RU" dirty="0"/>
              <a:t> 's/[</a:t>
            </a:r>
            <a:r>
              <a:rPr lang="ru-RU" dirty="0" err="1"/>
              <a:t>Ll</a:t>
            </a:r>
            <a:r>
              <a:rPr lang="ru-RU" dirty="0"/>
              <a:t>]</a:t>
            </a:r>
            <a:r>
              <a:rPr lang="ru-RU" dirty="0" err="1"/>
              <a:t>ife</a:t>
            </a:r>
            <a:r>
              <a:rPr lang="ru-RU" dirty="0"/>
              <a:t>/</a:t>
            </a:r>
            <a:r>
              <a:rPr lang="ru-RU" dirty="0" err="1"/>
              <a:t>Love</a:t>
            </a:r>
            <a:r>
              <a:rPr lang="ru-RU" dirty="0"/>
              <a:t>/g' a.txt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39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Краткий учебник по sed</a:t>
            </a:r>
            <a:endParaRPr/>
          </a:p>
        </p:txBody>
      </p:sp>
      <p:sp>
        <p:nvSpPr>
          <p:cNvPr id="353" name="Google Shape;353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ru-RU" sz="4800"/>
              <a:t>https://emulek.github.io/sed/index.html</a:t>
            </a:r>
            <a:endParaRPr sz="480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40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tar</a:t>
            </a:r>
            <a:endParaRPr/>
          </a:p>
        </p:txBody>
      </p:sp>
      <p:sp>
        <p:nvSpPr>
          <p:cNvPr id="359" name="Google Shape;359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/>
              <a:t>Формат битового потока или файла архива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dirty="0" err="1"/>
              <a:t>tar</a:t>
            </a:r>
            <a:r>
              <a:rPr lang="ru-RU" dirty="0"/>
              <a:t> </a:t>
            </a:r>
            <a:r>
              <a:rPr lang="ru-RU" dirty="0" smtClean="0"/>
              <a:t>не делает компрессию (сжатие), </a:t>
            </a:r>
            <a:r>
              <a:rPr lang="ru-RU" dirty="0"/>
              <a:t>а использует внешние утилиты, например </a:t>
            </a:r>
            <a:r>
              <a:rPr lang="ru-RU" dirty="0" err="1"/>
              <a:t>gzip</a:t>
            </a:r>
            <a:r>
              <a:rPr lang="ru-RU" dirty="0"/>
              <a:t>, bzip2 (раньше использовалась </a:t>
            </a:r>
            <a:r>
              <a:rPr lang="ru-RU" dirty="0" err="1"/>
              <a:t>compress</a:t>
            </a:r>
            <a:r>
              <a:rPr lang="ru-RU" dirty="0"/>
              <a:t>)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41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Синтаксис</a:t>
            </a:r>
            <a:endParaRPr/>
          </a:p>
        </p:txBody>
      </p:sp>
      <p:sp>
        <p:nvSpPr>
          <p:cNvPr id="365" name="Google Shape;365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lang="ru-RU" sz="5400"/>
              <a:t>tar [-опции] &lt;имя архива tar&gt; [файлы или папкидля помещения в архив]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42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Опции tar</a:t>
            </a:r>
            <a:endParaRPr/>
          </a:p>
        </p:txBody>
      </p:sp>
      <p:sp>
        <p:nvSpPr>
          <p:cNvPr id="371" name="Google Shape;371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-c, --create — создать архив;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-a, --auto-compress — дополнительно сжать архив с компрессором который автоматически определить по расширению архива. Если имя архива заканчивается на *.tar.gz то с помощью GZip, если *.tar.xz то с помощью XZ, *.tar.zst для Zstandard и.т.п;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-r, --append — добавить файлы в конец существующего архива;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-x, --extract, --get — извлечь файлы из архива;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-f, --file — указать имя архива;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-t, --list — отобразить список файлов и папок в архиве;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-v, --verbose — выводить список обработанных файлов.</a:t>
            </a:r>
            <a:endParaRPr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43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Примеры</a:t>
            </a:r>
            <a:endParaRPr/>
          </a:p>
        </p:txBody>
      </p:sp>
      <p:sp>
        <p:nvSpPr>
          <p:cNvPr id="377" name="Google Shape;377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Создание архива archive.tar из файла README.txt и каталога src: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tar -cvf archive.tar README.txt src</a:t>
            </a: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Извлечение содержимого archive.tar в текущий каталог: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tar -xvf archive.tar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Создание архива archive.tar.gz из файла README.txt и каталога src и сжатие его с помощью gzip 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tar -cavf archive.tar.gz README.txt src</a:t>
            </a: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Извлечение содержимого archive.tar.gz в текущий каталог: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 b="1"/>
              <a:t>tar -xvf archive.tar.gz</a:t>
            </a:r>
            <a:endParaRPr b="1"/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  <a:pPr/>
              <a:t>44</a:t>
            </a:fld>
            <a:r>
              <a:rPr lang="ru-RU" smtClean="0"/>
              <a:t>/4</a:t>
            </a:r>
            <a:r>
              <a:rPr lang="en-US" smtClean="0"/>
              <a:t>4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1692</Words>
  <Application>Microsoft Office PowerPoint</Application>
  <PresentationFormat>Произвольный</PresentationFormat>
  <Paragraphs>223</Paragraphs>
  <Slides>44</Slides>
  <Notes>44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45" baseType="lpstr">
      <vt:lpstr>Тема Office</vt:lpstr>
      <vt:lpstr>Элтекс</vt:lpstr>
      <vt:lpstr>Темы лекции</vt:lpstr>
      <vt:lpstr>Презентация PowerPoint</vt:lpstr>
      <vt:lpstr>Презентация PowerPoint</vt:lpstr>
      <vt:lpstr>Презентация PowerPoint</vt:lpstr>
      <vt:lpstr>Изменение владельца</vt:lpstr>
      <vt:lpstr>Изменение группы-владельца каталога</vt:lpstr>
      <vt:lpstr>По умолчанию</vt:lpstr>
      <vt:lpstr>Важно</vt:lpstr>
      <vt:lpstr>Управление правами</vt:lpstr>
      <vt:lpstr>Интересное и нужное</vt:lpstr>
      <vt:lpstr>Расширенные права</vt:lpstr>
      <vt:lpstr>SUID</vt:lpstr>
      <vt:lpstr>SGID</vt:lpstr>
      <vt:lpstr>sticky bit</vt:lpstr>
      <vt:lpstr>Как применить расширенные права</vt:lpstr>
      <vt:lpstr>Рекомендации</vt:lpstr>
      <vt:lpstr>umask (обратная маска)</vt:lpstr>
      <vt:lpstr>umask все значения</vt:lpstr>
      <vt:lpstr>Как изменить umask</vt:lpstr>
      <vt:lpstr>awk</vt:lpstr>
      <vt:lpstr>Презентация PowerPoint</vt:lpstr>
      <vt:lpstr>awk работает с переменными</vt:lpstr>
      <vt:lpstr>sed</vt:lpstr>
      <vt:lpstr>Замена заданного шаблона</vt:lpstr>
      <vt:lpstr>Замена n-ного шаблона</vt:lpstr>
      <vt:lpstr>Замена всех вхождений шаблона</vt:lpstr>
      <vt:lpstr>Замена шаблона в конкретной строке</vt:lpstr>
      <vt:lpstr>Дублирование изменяемых строк</vt:lpstr>
      <vt:lpstr>Вывод только строк с заменой</vt:lpstr>
      <vt:lpstr>Замена шаблона в указанном диапазоне строк</vt:lpstr>
      <vt:lpstr> Удаление строк из файла</vt:lpstr>
      <vt:lpstr>Удаление текста, соответствующего шаблону</vt:lpstr>
      <vt:lpstr>Просмотр строк</vt:lpstr>
      <vt:lpstr>Просмотре всего файла за исключением заданного диапазона</vt:lpstr>
      <vt:lpstr>Вывести n-ую строку файл</vt:lpstr>
      <vt:lpstr>Вывести строки с x по y</vt:lpstr>
      <vt:lpstr>Вывести строки, содержащие указанный шаблон</vt:lpstr>
      <vt:lpstr>Два способа замены шаблона,  игнорируя регистр</vt:lpstr>
      <vt:lpstr>Краткий учебник по sed</vt:lpstr>
      <vt:lpstr>tar</vt:lpstr>
      <vt:lpstr>Синтаксис</vt:lpstr>
      <vt:lpstr>Опции tar</vt:lpstr>
      <vt:lpstr>Примеры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Элтекс</dc:title>
  <dc:creator>nes</dc:creator>
  <cp:lastModifiedBy>Sergei</cp:lastModifiedBy>
  <cp:revision>17</cp:revision>
  <dcterms:created xsi:type="dcterms:W3CDTF">2022-10-09T10:37:34Z</dcterms:created>
  <dcterms:modified xsi:type="dcterms:W3CDTF">2026-07-13T01:00:20Z</dcterms:modified>
</cp:coreProperties>
</file>